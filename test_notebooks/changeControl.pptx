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10E533-57A5-4E87-B3C8-DF5D3C0FA1CE}">
  <a:tblStyle styleId="{B210E533-57A5-4E87-B3C8-DF5D3C0FA1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explaining about the digital chaos, due to </a:t>
            </a:r>
            <a:r>
              <a:rPr lang="en-US"/>
              <a:t>uncontrolled</a:t>
            </a:r>
            <a:r>
              <a:rPr lang="en-US"/>
              <a:t> changes which may effect the </a:t>
            </a:r>
            <a:r>
              <a:rPr lang="en-US"/>
              <a:t>systems</a:t>
            </a:r>
            <a:r>
              <a:rPr lang="en-US"/>
              <a:t> badly. even a small </a:t>
            </a:r>
            <a:r>
              <a:rPr lang="en-US"/>
              <a:t>update</a:t>
            </a:r>
            <a:r>
              <a:rPr lang="en-US"/>
              <a:t> can bring our systems on the down period for to long.</a:t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10" Type="http://schemas.openxmlformats.org/officeDocument/2006/relationships/image" Target="../media/image18.png"/><Relationship Id="rId9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33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10" Type="http://schemas.openxmlformats.org/officeDocument/2006/relationships/image" Target="../media/image15.png"/><Relationship Id="rId9" Type="http://schemas.openxmlformats.org/officeDocument/2006/relationships/image" Target="../media/image12.png"/><Relationship Id="rId5" Type="http://schemas.openxmlformats.org/officeDocument/2006/relationships/image" Target="../media/image22.png"/><Relationship Id="rId6" Type="http://schemas.openxmlformats.org/officeDocument/2006/relationships/image" Target="../media/image33.png"/><Relationship Id="rId7" Type="http://schemas.openxmlformats.org/officeDocument/2006/relationships/image" Target="../media/image17.png"/><Relationship Id="rId8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516409"/>
            <a:ext cx="1160145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Change Control &amp; Technology Governance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69059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Ensuring Stability and Security in IT Ecosystems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60512"/>
            <a:ext cx="11049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Course: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Information Security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graphicFrame>
        <p:nvGraphicFramePr>
          <p:cNvPr id="88" name="Google Shape;88;p13"/>
          <p:cNvGraphicFramePr/>
          <p:nvPr/>
        </p:nvGraphicFramePr>
        <p:xfrm>
          <a:off x="1180275" y="505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{B210E533-57A5-4E87-B3C8-DF5D3C0FA1CE}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Student Name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Roll no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Momna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BCSF22M021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" name="Google Shape;89;p13"/>
          <p:cNvSpPr txBox="1"/>
          <p:nvPr/>
        </p:nvSpPr>
        <p:spPr>
          <a:xfrm>
            <a:off x="7128100" y="5368650"/>
            <a:ext cx="5109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7950"/>
            <a:ext cx="5334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47950"/>
            <a:ext cx="5334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44225" y="285750"/>
            <a:ext cx="9620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66775" y="2943225"/>
            <a:ext cx="498062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The Power of IT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486150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Modern businesses run on IT. From global banking to local healthcare, availability is everything.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4191000"/>
            <a:ext cx="4743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When systems are stable, the business thrives.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2943225"/>
            <a:ext cx="498062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The Risk of Change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81775" y="3486150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Uncontrolled changes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are the #1 cause of security breaches and system crashes.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81775" y="4191000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One "small" unauthorized update can bring down an entire enterprise.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Digital Chaos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14537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4225" y="285750"/>
            <a:ext cx="9620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2436465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A Disciplined Approach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297939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Change Control is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systematic process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ensure that changes to IT systems are introduced in a controlled and coordinated manner.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4084290"/>
            <a:ext cx="5334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"Move fast, but don't break things."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01453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464046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Minimizes risk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494526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Ensures accountability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023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0717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Change Control?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44225" y="285750"/>
            <a:ext cx="9620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571500" y="3919537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00062" y="4110037"/>
            <a:ext cx="1800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1. Request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42925" y="4652962"/>
            <a:ext cx="171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Formal proposal for change.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2378273" y="2862262"/>
            <a:ext cx="1800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2. Review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2421135" y="3405187"/>
            <a:ext cx="171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Assessing impact &amp; risks.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256484" y="4110037"/>
            <a:ext cx="1800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3. Approve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299346" y="4652962"/>
            <a:ext cx="171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Stakeholder sign-off.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134695" y="2862262"/>
            <a:ext cx="1800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4. Test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177557" y="3405187"/>
            <a:ext cx="171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Validate in staging environments.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012906" y="4110037"/>
            <a:ext cx="1800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5. Deploy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055768" y="4652962"/>
            <a:ext cx="171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Implementation in live system.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891117" y="2557462"/>
            <a:ext cx="1800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6. Audit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933979" y="3100387"/>
            <a:ext cx="1714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Post-implementation review.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Change Control Lifecycle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1285875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164085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042296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920507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8798718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10676929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3175"/>
            <a:ext cx="3492549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43175"/>
            <a:ext cx="3492549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43175"/>
            <a:ext cx="3492549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44225" y="285750"/>
            <a:ext cx="9620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734217" y="3505200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09625" y="4048125"/>
            <a:ext cx="30162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Prevents unauthorized code or backdoors from entering production.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512517" y="3505200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Stability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587924" y="4048125"/>
            <a:ext cx="30162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Ensures updates don't conflict with existing system features.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290816" y="3505200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Compliance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366224" y="4048125"/>
            <a:ext cx="30162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Provides an audit trail for regulatory requirements (like HIPAA or PCI-DSS).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08150" y="28670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86450" y="28670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17137" y="2867025"/>
            <a:ext cx="3143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Change Control Matters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453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4225" y="285750"/>
            <a:ext cx="9620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" y="2090737"/>
            <a:ext cx="18669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6286500" y="2790825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Doing the Right Things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286500" y="333375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Technology Governance is the framework that ensures IT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supports and extends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organization’s strategies and objectives.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286500" y="43434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It’s about making high-level decisions on how IT is used, who makes those decisions, and how results are measured.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Understanding Governance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5575"/>
            <a:ext cx="2547937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695575"/>
            <a:ext cx="2547937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695575"/>
            <a:ext cx="2547937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2695575"/>
            <a:ext cx="2547937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44225" y="285750"/>
            <a:ext cx="9620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757832" y="3657600"/>
            <a:ext cx="21752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Policies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09625" y="4200525"/>
            <a:ext cx="2071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Clear rules and guidelines for behavior.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591520" y="3657600"/>
            <a:ext cx="21752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Roles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3643312" y="4200525"/>
            <a:ext cx="2071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Defining who is responsible for what.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425207" y="3657600"/>
            <a:ext cx="21752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Compliance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477000" y="4200525"/>
            <a:ext cx="2071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Meeting legal and regulatory standards.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258895" y="3657600"/>
            <a:ext cx="21752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Alignment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310687" y="4200525"/>
            <a:ext cx="20716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goals = Business goals.</a:t>
            </a:r>
            <a:endParaRPr/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59731" y="3019425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7218" y="3019425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50906" y="3019425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36981" y="301942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4 Pillars of Governance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44225" y="285750"/>
            <a:ext cx="9620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571500" y="3209925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80%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71500" y="4352925"/>
            <a:ext cx="5334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REDUCED RISK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286500" y="2714625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Strategic Benefits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286500" y="32575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Strong governance leads to better risk management and resource allocation.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553200" y="40576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667500" y="40576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Accountability: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Transparent decision making.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553200" y="43624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667500" y="43624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Efficiency: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Less waste on irrelevant IT projects.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553200" y="4667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667500" y="46672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Value: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Maximizing return on technology investments.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Invest in Governance?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8825"/>
            <a:ext cx="5334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28825"/>
            <a:ext cx="5334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44225" y="285750"/>
            <a:ext cx="9620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71500" y="5410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Governance creates the rules; Change Control enforces them.</a:t>
            </a:r>
            <a:endParaRPr/>
          </a:p>
        </p:txBody>
      </p:sp>
      <p:pic>
        <p:nvPicPr>
          <p:cNvPr descr="image.png" id="234" name="Google Shape;23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52750" y="23241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748188" y="3086100"/>
            <a:ext cx="498062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Governance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866775" y="3629025"/>
            <a:ext cx="4743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"WHAT" &amp; "WHY"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866775" y="4029075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Sets the laws, policies, and strategy. It defines the "safe zone" for operations.</a:t>
            </a:r>
            <a:endParaRPr/>
          </a:p>
        </p:txBody>
      </p:sp>
      <p:pic>
        <p:nvPicPr>
          <p:cNvPr descr="image.png" id="238" name="Google Shape;23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312" y="2324100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6463188" y="3086100"/>
            <a:ext cx="498062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Change Control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581775" y="3629025"/>
            <a:ext cx="4743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"HOW"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581775" y="4029075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daily execution of the rules. It makes sure every step follows the governance policy.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Relationship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8225" y="285750"/>
            <a:ext cx="9620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762000" y="571500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Cost of Failure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12477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571500" y="1552575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Case: TSB Bank (2018)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571500" y="20955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During a massive IT migration, TSB failed to apply proper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Governance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(testing oversight) and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Change Control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(roll-back plans).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952500" y="32956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1.9 Million customers lost access.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952500" y="36004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£330 Million in total losses.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952500" y="39052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CEO was forced to resign.</a:t>
            </a:r>
            <a:endParaRPr/>
          </a:p>
        </p:txBody>
      </p:sp>
      <p:pic>
        <p:nvPicPr>
          <p:cNvPr descr="image.png"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35756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66236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967162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44225" y="285750"/>
            <a:ext cx="9620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1333500" y="2943225"/>
            <a:ext cx="9525000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"Governance is the compass, Change Control is the steering wheel. Without both, your security is heading for a crash." 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952500" y="2371725"/>
            <a:ext cx="38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3186112" y="5334000"/>
            <a:ext cx="2390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Control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= Stability &amp; Security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5957887" y="53340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Governance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= Direction &amp; Alignment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Takeaways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3185636" y="1783109"/>
            <a:ext cx="5820727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3324225" y="3307109"/>
            <a:ext cx="55435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Any Questions?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3324225" y="4274790"/>
            <a:ext cx="5543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contact@university.edu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3324225" y="4674840"/>
            <a:ext cx="5543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www.infosec-group.com</a:t>
            </a:r>
            <a:endParaRPr/>
          </a:p>
        </p:txBody>
      </p:sp>
      <p:pic>
        <p:nvPicPr>
          <p:cNvPr descr="image.png" id="282" name="Google Shape;2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4437" y="434146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1100" y="474151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/>
          <p:nvPr/>
        </p:nvSpPr>
        <p:spPr>
          <a:xfrm>
            <a:off x="571500" y="274706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71500" y="353184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71500" y="35223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71500" y="35223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71500" y="43070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71500" y="43070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5" name="Google Shape;29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64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1666875" y="288994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https://static.vecteezy.com/system/resources/previews/065/943/931/non_2x/security-settings-3d-illustration-png.png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1666875" y="313565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98" name="Google Shape;29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81263"/>
            <a:ext cx="20859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 txBox="1"/>
          <p:nvPr/>
        </p:nvSpPr>
        <p:spPr>
          <a:xfrm>
            <a:off x="1666875" y="367471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https://images.presentationgo.com/2025/04/executive-business-meeting-office.jpg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1666875" y="392043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www.presentationgo.com</a:t>
            </a:r>
            <a:endParaRPr/>
          </a:p>
        </p:txBody>
      </p:sp>
      <p:pic>
        <p:nvPicPr>
          <p:cNvPr descr="image.png" id="301" name="Google Shape;30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66034"/>
            <a:ext cx="13906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1666875" y="445948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https://motionarray.imgix.net/bright-server-lights-illuminate-a-dark-room-in-a-data-center-at-night-3478730-high_0000.jpg?w=660&amp;q=60&amp;fit=max&amp;auto=format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1666875" y="470520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motionarray.com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